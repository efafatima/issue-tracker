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Nunito Sans Bold" charset="1" panose="00000000000000000000"/>
      <p:regular r:id="rId28"/>
    </p:embeddedFont>
    <p:embeddedFont>
      <p:font typeface="Amiko" charset="1" panose="00000500000000000000"/>
      <p:regular r:id="rId29"/>
    </p:embeddedFont>
    <p:embeddedFont>
      <p:font typeface="Nunito Sans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630161" y="2711673"/>
            <a:ext cx="21548323" cy="391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99"/>
              </a:lnSpc>
            </a:pPr>
            <a:r>
              <a:rPr lang="en-US" b="true" sz="150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STUDENT ISSUE </a:t>
            </a:r>
          </a:p>
          <a:p>
            <a:pPr algn="ctr">
              <a:lnSpc>
                <a:spcPts val="15099"/>
              </a:lnSpc>
            </a:pPr>
            <a:r>
              <a:rPr lang="en-US" b="true" sz="150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TRACKER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18069" y="7259070"/>
            <a:ext cx="8105248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An AI-Assisted Complaint Management System for Universities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69770" y="2375237"/>
            <a:ext cx="10789449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0744" y="4256526"/>
            <a:ext cx="11128475" cy="254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</a:p>
          <a:p>
            <a:pPr algn="ctr">
              <a:lnSpc>
                <a:spcPts val="330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 Name: Affifa Fatima </a:t>
            </a:r>
          </a:p>
          <a:p>
            <a:pPr algn="ctr">
              <a:lnSpc>
                <a:spcPts val="330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Roll No:</a:t>
            </a: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BSCS-E-22-05</a:t>
            </a:r>
          </a:p>
          <a:p>
            <a:pPr algn="ctr">
              <a:lnSpc>
                <a:spcPts val="330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Supervisor: Dr. Aamir Raza</a:t>
            </a:r>
          </a:p>
          <a:p>
            <a:pPr algn="ctr">
              <a:lnSpc>
                <a:spcPts val="330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BZU Multan — 2022–2026</a:t>
            </a:r>
          </a:p>
          <a:p>
            <a:pPr algn="ctr">
              <a:lnSpc>
                <a:spcPts val="33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54430" y="2186107"/>
            <a:ext cx="10998524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ABSTRACT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0843" y="3781407"/>
            <a:ext cx="13745699" cy="579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The Student Issue Tracker is a web-based complaint management system developed for university departments. It allows students to submit and track complaints while providing AI-assisted category and priority suggestions. Complaints are routed to the appropriate authorities and managed through a structured workflow. The system enhances transparency, accountability, and efficiency through role-based management, analytics, notifications, and feedback features.</a:t>
            </a:r>
          </a:p>
          <a:p>
            <a:pPr algn="ctr">
              <a:lnSpc>
                <a:spcPts val="4620"/>
              </a:lnSpc>
            </a:pPr>
          </a:p>
          <a:p>
            <a:pPr algn="ctr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31605" y="2186107"/>
            <a:ext cx="17424562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9770" y="3781102"/>
            <a:ext cx="12962744" cy="405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Universities do not have a proper complaint management system.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Complaints are submitted through paper forms, emails, or verbal communication, which are informal methods.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Students cannot track the status of their complaints.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Records are often lost or ignored.</a:t>
            </a:r>
          </a:p>
          <a:p>
            <a:pPr algn="l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928615"/>
            <a:ext cx="17424562" cy="266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PROJECT OBJECTIVES</a:t>
            </a:r>
          </a:p>
          <a:p>
            <a:pPr algn="ctr">
              <a:lnSpc>
                <a:spcPts val="102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988820" y="3781102"/>
            <a:ext cx="12962744" cy="405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Develop a centralized complaint management system.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 Provide AI-based suggestions for complaint categories and priority levels.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Implement role-based dashboards for Students, HOD, DSA, Faculty, and Supervisors.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Enable complaint tracking, notifications, analytics, and feedback features.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0843" y="2346662"/>
            <a:ext cx="15512750" cy="130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2"/>
              </a:lnSpc>
            </a:pPr>
            <a:r>
              <a:rPr lang="en-US" b="true" sz="97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08293" y="4457938"/>
            <a:ext cx="14483293" cy="346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The system follows a 3-tier architecture. 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 Presentation (Next.js)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 Application (API Routes + Auth) 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 Data (Supabase)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 Each layer communicates through secure API calls with role-based access control.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52789" y="449344"/>
            <a:ext cx="12220875" cy="8267062"/>
          </a:xfrm>
          <a:custGeom>
            <a:avLst/>
            <a:gdLst/>
            <a:ahLst/>
            <a:cxnLst/>
            <a:rect r="r" b="b" t="t" l="l"/>
            <a:pathLst>
              <a:path h="8267062" w="12220875">
                <a:moveTo>
                  <a:pt x="0" y="0"/>
                </a:moveTo>
                <a:lnTo>
                  <a:pt x="12220875" y="0"/>
                </a:lnTo>
                <a:lnTo>
                  <a:pt x="12220875" y="8267063"/>
                </a:lnTo>
                <a:lnTo>
                  <a:pt x="0" y="82670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56202" y="8397875"/>
            <a:ext cx="10175595" cy="95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104289"/>
                </a:solidFill>
                <a:latin typeface="Nunito Sans"/>
                <a:ea typeface="Nunito Sans"/>
                <a:cs typeface="Nunito Sans"/>
                <a:sym typeface="Nunito Sans"/>
              </a:rPr>
              <a:t>SOLID ARROWS SHOW REQUEST FLOW; EACH LAYER IS INDEPENDENT AND COMMUNICATES ONLY WITH ADJACENT LAYERS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314" y="2788911"/>
            <a:ext cx="17424562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TECHNOLOGY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2628" y="4492707"/>
            <a:ext cx="12962744" cy="405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Frontend: Next.js, React, CSS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Backend: Next.js API Routes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Database: Supabase PostgreSQL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Auth: Supabase Auth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Extras: Gmail SMTP, Botpress, Speech Synthesis, Lucide Icons</a:t>
            </a:r>
          </a:p>
          <a:p>
            <a:pPr algn="l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2121856"/>
            <a:ext cx="15462886" cy="266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FUNCTIONAL REQUIREMENTS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55872" y="5248025"/>
            <a:ext cx="12018393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Student: submit, track, feedback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HOD: review academic/behavior complaints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DSA: review admin/facilities complaints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Faculty: resolve assigned complaints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Supervisor: manage all + analytics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73851" y="3698560"/>
            <a:ext cx="10902353" cy="5559740"/>
          </a:xfrm>
          <a:custGeom>
            <a:avLst/>
            <a:gdLst/>
            <a:ahLst/>
            <a:cxnLst/>
            <a:rect r="r" b="b" t="t" l="l"/>
            <a:pathLst>
              <a:path h="5559740" w="10902353">
                <a:moveTo>
                  <a:pt x="0" y="0"/>
                </a:moveTo>
                <a:lnTo>
                  <a:pt x="10902353" y="0"/>
                </a:lnTo>
                <a:lnTo>
                  <a:pt x="10902353" y="5559740"/>
                </a:lnTo>
                <a:lnTo>
                  <a:pt x="0" y="5559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0558" r="0" b="-1055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34866" y="492121"/>
            <a:ext cx="15453134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USE CASE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08788" y="2213312"/>
            <a:ext cx="1248279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03275A"/>
                </a:solidFill>
                <a:latin typeface="Nunito Sans"/>
                <a:ea typeface="Nunito Sans"/>
                <a:cs typeface="Nunito Sans"/>
                <a:sym typeface="Nunito Sans"/>
              </a:rPr>
              <a:t>STUDENT ACTOR INTERACTIONS  INCLUDING AI-ASSISTED COMPLAINT SUBMISSION, STATUS TRACKING, AND FEEDBACK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66475" y="1122895"/>
            <a:ext cx="2888608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(STUDENT)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58696" y="3388648"/>
            <a:ext cx="9617124" cy="6647130"/>
          </a:xfrm>
          <a:custGeom>
            <a:avLst/>
            <a:gdLst/>
            <a:ahLst/>
            <a:cxnLst/>
            <a:rect r="r" b="b" t="t" l="l"/>
            <a:pathLst>
              <a:path h="6647130" w="9617124">
                <a:moveTo>
                  <a:pt x="0" y="0"/>
                </a:moveTo>
                <a:lnTo>
                  <a:pt x="9617124" y="0"/>
                </a:lnTo>
                <a:lnTo>
                  <a:pt x="9617124" y="6647130"/>
                </a:lnTo>
                <a:lnTo>
                  <a:pt x="0" y="6647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62530" y="807561"/>
            <a:ext cx="15059981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USE CASE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9770" y="2213312"/>
            <a:ext cx="1393931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40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STAFF ROLE INTERACTION HOD AND DSA REVIEW AND ROUTE COMPLAINTS , FACULTY RESOLVES AND SUPERVISOR MANAGES THE ENTIRE SYSTEM.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87769" y="1085850"/>
            <a:ext cx="1383209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(STAFF)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63103" y="1976557"/>
            <a:ext cx="8211623" cy="7499144"/>
          </a:xfrm>
          <a:custGeom>
            <a:avLst/>
            <a:gdLst/>
            <a:ahLst/>
            <a:cxnLst/>
            <a:rect r="r" b="b" t="t" l="l"/>
            <a:pathLst>
              <a:path h="7499144" w="8211623">
                <a:moveTo>
                  <a:pt x="0" y="0"/>
                </a:moveTo>
                <a:lnTo>
                  <a:pt x="8211623" y="0"/>
                </a:lnTo>
                <a:lnTo>
                  <a:pt x="8211623" y="7499144"/>
                </a:lnTo>
                <a:lnTo>
                  <a:pt x="0" y="74991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117" y="608667"/>
            <a:ext cx="17633760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WORKFLOW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08617" y="2941509"/>
            <a:ext cx="8859436" cy="7817150"/>
          </a:xfrm>
          <a:custGeom>
            <a:avLst/>
            <a:gdLst/>
            <a:ahLst/>
            <a:cxnLst/>
            <a:rect r="r" b="b" t="t" l="l"/>
            <a:pathLst>
              <a:path h="7817150" w="8859436">
                <a:moveTo>
                  <a:pt x="0" y="0"/>
                </a:moveTo>
                <a:lnTo>
                  <a:pt x="8859436" y="0"/>
                </a:lnTo>
                <a:lnTo>
                  <a:pt x="8859436" y="7817150"/>
                </a:lnTo>
                <a:lnTo>
                  <a:pt x="0" y="7817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2952" y="608667"/>
            <a:ext cx="14823035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ERD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11139" y="2319138"/>
            <a:ext cx="12606338" cy="32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"/>
              </a:lnSpc>
              <a:spcBef>
                <a:spcPct val="0"/>
              </a:spcBef>
            </a:pPr>
            <a:r>
              <a:rPr lang="en-US" sz="2451">
                <a:solidFill>
                  <a:srgbClr val="03275A"/>
                </a:solidFill>
                <a:latin typeface="Nunito Sans"/>
                <a:ea typeface="Nunito Sans"/>
                <a:cs typeface="Nunito Sans"/>
                <a:sym typeface="Nunito Sans"/>
              </a:rPr>
              <a:t> THESE ARE THE  BACKBONE OF THE SYSTEM WITH FOREIGN KEY RELATIONSHIPS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87049" y="1229916"/>
            <a:ext cx="3010094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(</a:t>
            </a:r>
            <a:r>
              <a:rPr lang="en-US" b="true" sz="24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CORE TABLES 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94221" y="2165687"/>
            <a:ext cx="10181983" cy="8684633"/>
          </a:xfrm>
          <a:custGeom>
            <a:avLst/>
            <a:gdLst/>
            <a:ahLst/>
            <a:cxnLst/>
            <a:rect r="r" b="b" t="t" l="l"/>
            <a:pathLst>
              <a:path h="8684633" w="10181983">
                <a:moveTo>
                  <a:pt x="0" y="0"/>
                </a:moveTo>
                <a:lnTo>
                  <a:pt x="10181983" y="0"/>
                </a:lnTo>
                <a:lnTo>
                  <a:pt x="10181983" y="8684633"/>
                </a:lnTo>
                <a:lnTo>
                  <a:pt x="0" y="86846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71848" y="209550"/>
            <a:ext cx="14823035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ERD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44829" y="2213312"/>
            <a:ext cx="13346757" cy="30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"/>
              </a:lnSpc>
              <a:spcBef>
                <a:spcPct val="0"/>
              </a:spcBef>
            </a:pPr>
            <a:r>
              <a:rPr lang="en-US" sz="2342">
                <a:solidFill>
                  <a:srgbClr val="03275A"/>
                </a:solidFill>
                <a:latin typeface="Nunito Sans"/>
                <a:ea typeface="Nunito Sans"/>
                <a:cs typeface="Nunito Sans"/>
                <a:sym typeface="Nunito Sans"/>
              </a:rPr>
              <a:t> ALL  THESE  LINK  BACK TO THE CENTRAL COMPLAINTS TABLE WITH  (1:M) RELATIONSHIP.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14601" y="910273"/>
            <a:ext cx="4439816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  <a:spcBef>
                <a:spcPct val="0"/>
              </a:spcBef>
            </a:pPr>
            <a:r>
              <a:rPr lang="en-US" b="true" sz="21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(</a:t>
            </a:r>
            <a:r>
              <a:rPr lang="en-US" b="true" sz="21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SUPPORTING TABLES 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453545" y="2774318"/>
            <a:ext cx="20073821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AI ASSISTANCE FEATURE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08657" y="4464491"/>
            <a:ext cx="12018393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Keyword-based category prediction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Urgency analysis for priority (Low/Medium/High)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Similarity detection to reduce duplicate complaints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Lightweight JS utilities — no external ML server</a:t>
            </a:r>
          </a:p>
          <a:p>
            <a:pPr algn="ctr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69770" y="2367584"/>
            <a:ext cx="11935932" cy="5339845"/>
          </a:xfrm>
          <a:custGeom>
            <a:avLst/>
            <a:gdLst/>
            <a:ahLst/>
            <a:cxnLst/>
            <a:rect r="r" b="b" t="t" l="l"/>
            <a:pathLst>
              <a:path h="5339845" w="11935932">
                <a:moveTo>
                  <a:pt x="0" y="0"/>
                </a:moveTo>
                <a:lnTo>
                  <a:pt x="11935932" y="0"/>
                </a:lnTo>
                <a:lnTo>
                  <a:pt x="11935932" y="5339844"/>
                </a:lnTo>
                <a:lnTo>
                  <a:pt x="0" y="53398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807" r="0" b="-280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397050" y="1010785"/>
            <a:ext cx="20073821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87309" y="8247697"/>
            <a:ext cx="12018393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Student Dashboard with </a:t>
            </a: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Botpress Chatbot + Voice Assistant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80842" y="2165687"/>
            <a:ext cx="11824860" cy="5198579"/>
          </a:xfrm>
          <a:custGeom>
            <a:avLst/>
            <a:gdLst/>
            <a:ahLst/>
            <a:cxnLst/>
            <a:rect r="r" b="b" t="t" l="l"/>
            <a:pathLst>
              <a:path h="5198579" w="11824860">
                <a:moveTo>
                  <a:pt x="0" y="0"/>
                </a:moveTo>
                <a:lnTo>
                  <a:pt x="11824860" y="0"/>
                </a:lnTo>
                <a:lnTo>
                  <a:pt x="11824860" y="5198579"/>
                </a:lnTo>
                <a:lnTo>
                  <a:pt x="0" y="51985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316" r="0" b="-231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397050" y="1010785"/>
            <a:ext cx="20073821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87309" y="7820727"/>
            <a:ext cx="12018393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Supervisor Dashboard where departments can be added and HODs and DSAs are assigned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87309" y="2424135"/>
            <a:ext cx="11907321" cy="5438731"/>
          </a:xfrm>
          <a:custGeom>
            <a:avLst/>
            <a:gdLst/>
            <a:ahLst/>
            <a:cxnLst/>
            <a:rect r="r" b="b" t="t" l="l"/>
            <a:pathLst>
              <a:path h="5438731" w="11907321">
                <a:moveTo>
                  <a:pt x="0" y="0"/>
                </a:moveTo>
                <a:lnTo>
                  <a:pt x="11907320" y="0"/>
                </a:lnTo>
                <a:lnTo>
                  <a:pt x="11907320" y="5438730"/>
                </a:lnTo>
                <a:lnTo>
                  <a:pt x="0" y="5438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681" r="0" b="-268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453545" y="608667"/>
            <a:ext cx="20073821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87309" y="8247697"/>
            <a:ext cx="1201839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Review Modal in DSA and HOD Dashbord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04443" y="2363635"/>
            <a:ext cx="11301259" cy="5226832"/>
          </a:xfrm>
          <a:custGeom>
            <a:avLst/>
            <a:gdLst/>
            <a:ahLst/>
            <a:cxnLst/>
            <a:rect r="r" b="b" t="t" l="l"/>
            <a:pathLst>
              <a:path h="5226832" w="11301259">
                <a:moveTo>
                  <a:pt x="0" y="0"/>
                </a:moveTo>
                <a:lnTo>
                  <a:pt x="11301259" y="0"/>
                </a:lnTo>
                <a:lnTo>
                  <a:pt x="11301259" y="5226832"/>
                </a:lnTo>
                <a:lnTo>
                  <a:pt x="0" y="52268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453545" y="608667"/>
            <a:ext cx="20073821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87309" y="8247697"/>
            <a:ext cx="1201839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Faculty Complaint Details Model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397050" y="455076"/>
            <a:ext cx="20073821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7349" y="2456378"/>
            <a:ext cx="14863817" cy="695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Successfully developed a centralized, role-based complaint management system for universities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AI-assisted category and priority suggestions reduce manual effort and improve accuracy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Real-time complaint tracking ensures transparency for students and accountability for staff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Automated routing (Academic/Behavior → HOD | Admin/Facilities → DSA) eliminates manual sorting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Integrated notifications, feedback, and analytics provide a complete complaint lifecycle solution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Lightweight JS-based AI — no external ML server required, fully deployable within university infrastructure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047752" y="1592063"/>
            <a:ext cx="20073821" cy="13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10292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FUTURE 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95483" y="4007802"/>
            <a:ext cx="14863817" cy="346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Mobile app (Android / iOS) for easier student access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Deep learning NLP for smarter complaint classification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PDF report generation for department heads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Multi-campus support for larger universities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Real-time WebSocket notifications</a:t>
            </a:r>
          </a:p>
          <a:p>
            <a:pPr algn="l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15856" y="3332480"/>
            <a:ext cx="9656288" cy="391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99"/>
              </a:lnSpc>
            </a:pPr>
            <a:r>
              <a:rPr lang="en-US" b="true" sz="150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THANK</a:t>
            </a:r>
          </a:p>
          <a:p>
            <a:pPr algn="ctr">
              <a:lnSpc>
                <a:spcPts val="15099"/>
              </a:lnSpc>
            </a:pPr>
            <a:r>
              <a:rPr lang="en-US" b="true" sz="150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DAHL4kKYO0Q</dc:identifier>
  <dcterms:modified xsi:type="dcterms:W3CDTF">2011-08-01T06:04:30Z</dcterms:modified>
  <cp:revision>1</cp:revision>
  <dc:title>Student Issue tracker</dc:title>
</cp:coreProperties>
</file>